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handoutMasterIdLst>
    <p:handoutMasterId r:id="rId13"/>
  </p:handoutMasterIdLst>
  <p:sldIdLst>
    <p:sldId id="2086972047" r:id="rId2"/>
    <p:sldId id="2086972070" r:id="rId3"/>
    <p:sldId id="2086972245" r:id="rId4"/>
    <p:sldId id="2086972250" r:id="rId5"/>
    <p:sldId id="2086972251" r:id="rId6"/>
    <p:sldId id="2086972248" r:id="rId7"/>
    <p:sldId id="2086972246" r:id="rId8"/>
    <p:sldId id="2086972247" r:id="rId9"/>
    <p:sldId id="2086972252" r:id="rId10"/>
    <p:sldId id="2086972253" r:id="rId11"/>
    <p:sldId id="208697224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02B48AB-86B8-12D3-E952-6BDF6872CC3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BBD1D8E-B284-AEBC-A8B6-3EA6C486A8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E2962-E709-4497-AB1E-EA47E303CFFF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DBF9E5-57EE-2427-2A7C-B11A0EB72E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8FBED63-391B-A234-8757-3A3ABB88AD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4EC4D-7647-4527-9406-02A583A429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1561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792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476DD9-91F5-4CF4-9C54-4B6F566A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fld id="{9E3D556E-A383-4A56-A19A-6563BAECBC30}" type="datetimeFigureOut">
              <a:rPr lang="zh-TW" altLang="en-US"/>
              <a:pPr>
                <a:defRPr/>
              </a:pPr>
              <a:t>2024/12/31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0AB9DA-183D-42C8-93F3-8DCF07963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B5B5370-AA1C-4BB6-BBF5-161ECAD1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BCCDC4-842A-4C2E-969C-D1D2F02A5041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23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A53FE-8B16-498D-B074-2E9FCE1EA56E}" type="datetimeFigureOut">
              <a:rPr lang="zh-TW" altLang="en-US" smtClean="0"/>
              <a:t>2024/12/31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01956-BE19-4F95-AC02-92F9005AAFC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62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email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B7FED-B7B7-4EA8-97CF-7E7FEFD7FC74}" type="datetime1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2024/12/31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4CCD9-AF14-4FD0-8E12-CF82B8F58377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90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tmp"/><Relationship Id="rId4" Type="http://schemas.openxmlformats.org/officeDocument/2006/relationships/image" Target="../media/image12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tmp"/><Relationship Id="rId4" Type="http://schemas.openxmlformats.org/officeDocument/2006/relationships/image" Target="../media/image27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mp"/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16A363B-49B6-E347-8E7F-83E51B820A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857251"/>
            <a:ext cx="9144000" cy="5144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D13849C-81ED-C243-8E42-CA9B253AFB3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092" y="1022615"/>
            <a:ext cx="1287053" cy="19168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1B7534C-01CB-894A-BFEC-0D6538ECBBA5}"/>
              </a:ext>
            </a:extLst>
          </p:cNvPr>
          <p:cNvSpPr/>
          <p:nvPr/>
        </p:nvSpPr>
        <p:spPr>
          <a:xfrm>
            <a:off x="1117450" y="2547381"/>
            <a:ext cx="7015937" cy="120533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0">
              <a:defRPr/>
            </a:pPr>
            <a:endParaRPr kumimoji="1" lang="zh-TW" altLang="en-US" sz="1350" kern="0">
              <a:solidFill>
                <a:srgbClr val="FFFFFF"/>
              </a:solidFill>
              <a:latin typeface="Helvetica"/>
              <a:ea typeface="新細明體" panose="02020500000000000000" pitchFamily="18" charset="-120"/>
              <a:sym typeface="Helvetic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61C99A-186F-5848-9BD3-944B73C383A3}"/>
              </a:ext>
            </a:extLst>
          </p:cNvPr>
          <p:cNvSpPr/>
          <p:nvPr/>
        </p:nvSpPr>
        <p:spPr>
          <a:xfrm>
            <a:off x="954688" y="2555285"/>
            <a:ext cx="34289" cy="11974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0">
              <a:defRPr/>
            </a:pPr>
            <a:endParaRPr kumimoji="1" lang="zh-TW" altLang="en-US" sz="1350" kern="0">
              <a:solidFill>
                <a:srgbClr val="FFFFFF"/>
              </a:solidFill>
              <a:latin typeface="Helvetica"/>
              <a:ea typeface="新細明體" panose="02020500000000000000" pitchFamily="18" charset="-120"/>
              <a:sym typeface="Helvetic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05C8EC-6934-E944-BB1C-F27D9A608FF8}"/>
              </a:ext>
            </a:extLst>
          </p:cNvPr>
          <p:cNvSpPr/>
          <p:nvPr/>
        </p:nvSpPr>
        <p:spPr>
          <a:xfrm>
            <a:off x="1211633" y="2677055"/>
            <a:ext cx="6814917" cy="934836"/>
          </a:xfrm>
          <a:prstGeom prst="rect">
            <a:avLst/>
          </a:prstGeom>
          <a:solidFill>
            <a:srgbClr val="000000">
              <a:alpha val="60000"/>
            </a:srgbClr>
          </a:solidFill>
        </p:spPr>
        <p:txBody>
          <a:bodyPr wrap="square" anchor="ctr">
            <a:no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</a:pPr>
            <a:r>
              <a:rPr lang="en-US" altLang="zh-TW" sz="30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PON OMCI Packet  </a:t>
            </a:r>
            <a:r>
              <a:rPr lang="en-US" sz="3000" b="1" dirty="0">
                <a:solidFill>
                  <a:prstClr val="whit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Automated Test</a:t>
            </a:r>
            <a:endParaRPr lang="en-US" altLang="zh-TW" sz="3000" b="1" dirty="0">
              <a:solidFill>
                <a:prstClr val="whit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8794B79-2793-9243-B929-4649890ABF45}"/>
              </a:ext>
            </a:extLst>
          </p:cNvPr>
          <p:cNvCxnSpPr/>
          <p:nvPr/>
        </p:nvCxnSpPr>
        <p:spPr>
          <a:xfrm>
            <a:off x="8114006" y="3150047"/>
            <a:ext cx="102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7B99B2EA-36E6-8A44-9C8F-6EAE5D204BAD}"/>
              </a:ext>
            </a:extLst>
          </p:cNvPr>
          <p:cNvCxnSpPr>
            <a:cxnSpLocks/>
          </p:cNvCxnSpPr>
          <p:nvPr/>
        </p:nvCxnSpPr>
        <p:spPr>
          <a:xfrm>
            <a:off x="1" y="3150047"/>
            <a:ext cx="9718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D877EB-79E5-1926-D4B5-FDD1F6ABEC53}"/>
              </a:ext>
            </a:extLst>
          </p:cNvPr>
          <p:cNvSpPr txBox="1"/>
          <p:nvPr/>
        </p:nvSpPr>
        <p:spPr>
          <a:xfrm>
            <a:off x="1211634" y="3882389"/>
            <a:ext cx="19043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/>
            <a:r>
              <a:rPr lang="en-US" sz="1500" i="1" dirty="0">
                <a:solidFill>
                  <a:prstClr val="white"/>
                </a:solidFill>
                <a:latin typeface="Calibri"/>
              </a:rPr>
              <a:t>2024-12-31 </a:t>
            </a:r>
            <a:r>
              <a:rPr lang="en-US" altLang="zh-TW" sz="1500" i="1" dirty="0">
                <a:solidFill>
                  <a:prstClr val="white"/>
                </a:solidFill>
                <a:latin typeface="Calibri"/>
              </a:rPr>
              <a:t>Selina Wu</a:t>
            </a:r>
            <a:endParaRPr lang="x-none" sz="1500" i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616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594788" cy="13439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產品上線的兩個流程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PLOAN &amp; OMCI, 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其中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OMCI 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層的封包內容是最為重要的檢查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, OMCI 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的種類封包數也是最多的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(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千種以上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), 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一個一個檢查比對是很花時間的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。</a:t>
            </a:r>
            <a:endParaRPr lang="en-US" altLang="zh-TW" sz="1050" dirty="0">
              <a:solidFill>
                <a:prstClr val="whit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defTabSz="685800"/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  <a:p>
            <a:pPr defTabSz="685800"/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E9FCB02-E57B-1AF1-7003-3949C660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417" y="1121791"/>
            <a:ext cx="5969409" cy="28648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0538C32-3B6E-6AC1-E0EE-6150E4994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975" y="3583425"/>
            <a:ext cx="4832757" cy="241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67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594788" cy="7181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Execute the program</a:t>
            </a:r>
            <a:r>
              <a:rPr lang="zh-TW" altLang="en-US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 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and Check Tool Menu </a:t>
            </a:r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  <a:p>
            <a:pPr defTabSz="685800"/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C3E98F8-E779-2B46-555B-A97DCF52A7FE}"/>
              </a:ext>
            </a:extLst>
          </p:cNvPr>
          <p:cNvGrpSpPr/>
          <p:nvPr/>
        </p:nvGrpSpPr>
        <p:grpSpPr>
          <a:xfrm>
            <a:off x="3047854" y="916604"/>
            <a:ext cx="6350980" cy="3311305"/>
            <a:chOff x="386818" y="202986"/>
            <a:chExt cx="8243730" cy="4378558"/>
          </a:xfrm>
        </p:grpSpPr>
        <p:sp>
          <p:nvSpPr>
            <p:cNvPr id="3" name="Title 1">
              <a:extLst>
                <a:ext uri="{FF2B5EF4-FFF2-40B4-BE49-F238E27FC236}">
                  <a16:creationId xmlns:a16="http://schemas.microsoft.com/office/drawing/2014/main" id="{8242F157-A027-1ACF-2396-5E12B8CDEE01}"/>
                </a:ext>
              </a:extLst>
            </p:cNvPr>
            <p:cNvSpPr txBox="1">
              <a:spLocks/>
            </p:cNvSpPr>
            <p:nvPr/>
          </p:nvSpPr>
          <p:spPr>
            <a:xfrm>
              <a:off x="386818" y="202986"/>
              <a:ext cx="8229600" cy="1127986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  <a:t>Step1 Execute the program</a:t>
              </a:r>
              <a:b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</a:br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PON_OMCI_packets_analysis_tool_v4.0</a:t>
              </a:r>
              <a:endParaRPr lang="en-US" sz="1600" dirty="0"/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1E964561-D738-97BE-A05F-ECF8EF8BD992}"/>
                </a:ext>
              </a:extLst>
            </p:cNvPr>
            <p:cNvSpPr txBox="1">
              <a:spLocks/>
            </p:cNvSpPr>
            <p:nvPr/>
          </p:nvSpPr>
          <p:spPr>
            <a:xfrm>
              <a:off x="400948" y="3828359"/>
              <a:ext cx="8229600" cy="75318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  <a:t>Step2 Check Tool Menu </a:t>
              </a:r>
            </a:p>
            <a:p>
              <a:pPr algn="l"/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Help -&gt; Release note</a:t>
              </a:r>
              <a:endParaRPr lang="en-US" sz="1600" dirty="0"/>
            </a:p>
          </p:txBody>
        </p: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DB98C09-0423-A200-1006-7B933AE8E099}"/>
              </a:ext>
            </a:extLst>
          </p:cNvPr>
          <p:cNvGrpSpPr/>
          <p:nvPr/>
        </p:nvGrpSpPr>
        <p:grpSpPr>
          <a:xfrm>
            <a:off x="3107880" y="1845057"/>
            <a:ext cx="5763275" cy="4096339"/>
            <a:chOff x="3107880" y="1845057"/>
            <a:chExt cx="5763275" cy="4096339"/>
          </a:xfrm>
        </p:grpSpPr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0FCF06F5-D3CD-9DCD-F5F3-91D4373A23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0781" y="1858422"/>
              <a:ext cx="4466334" cy="1595119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E657A779-089F-E781-2D8C-0DB3D8200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2627" y="1845057"/>
              <a:ext cx="2398472" cy="1567461"/>
            </a:xfrm>
            <a:prstGeom prst="rect">
              <a:avLst/>
            </a:prstGeom>
          </p:spPr>
        </p:pic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43B9370A-4F79-BE96-9659-4203A954A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07880" y="4420380"/>
              <a:ext cx="5763275" cy="1245984"/>
            </a:xfrm>
            <a:prstGeom prst="rect">
              <a:avLst/>
            </a:prstGeom>
          </p:spPr>
        </p:pic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0B5C6634-2394-9CE9-94EA-E91A49031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21010" y="4375056"/>
              <a:ext cx="2420393" cy="1566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602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B7B6C-BF0D-5905-1697-A434CFF1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0472CD-1FAA-7887-B871-2BC4EFF14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5D073F-301C-1B27-40FC-6BB7DA56E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4B585-5465-E030-0CBE-607530070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9382D4-D7C3-3CD6-AF0D-B7A84307B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4765B32-3ED1-3A7C-1225-C048D475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47D520-FEFB-468A-5AD3-DCB75986B5D7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kumimoji="0" lang="en-US" altLang="zh-TW" sz="30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1B275CAE-4005-2E34-48AF-BB5DA082A59C}"/>
              </a:ext>
            </a:extLst>
          </p:cNvPr>
          <p:cNvSpPr txBox="1"/>
          <p:nvPr/>
        </p:nvSpPr>
        <p:spPr>
          <a:xfrm>
            <a:off x="121051" y="2943614"/>
            <a:ext cx="2594788" cy="5535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Open Wireshark packets file (included OMCI packets)</a:t>
            </a: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E3BBA0F4-1391-3F46-5C36-D452A82B5C64}"/>
              </a:ext>
            </a:extLst>
          </p:cNvPr>
          <p:cNvGrpSpPr/>
          <p:nvPr/>
        </p:nvGrpSpPr>
        <p:grpSpPr>
          <a:xfrm>
            <a:off x="3019554" y="925608"/>
            <a:ext cx="5879582" cy="3664800"/>
            <a:chOff x="324340" y="397593"/>
            <a:chExt cx="7683103" cy="4536307"/>
          </a:xfrm>
        </p:grpSpPr>
        <p:sp>
          <p:nvSpPr>
            <p:cNvPr id="3" name="Title 1"/>
            <p:cNvSpPr txBox="1">
              <a:spLocks/>
            </p:cNvSpPr>
            <p:nvPr/>
          </p:nvSpPr>
          <p:spPr>
            <a:xfrm>
              <a:off x="328174" y="397593"/>
              <a:ext cx="7679269" cy="535726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Step3 Open Wireshark packets file (included OMCI packets)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2B049A6-CB0E-8737-3B14-E684ACEF76EE}"/>
                </a:ext>
              </a:extLst>
            </p:cNvPr>
            <p:cNvSpPr txBox="1"/>
            <p:nvPr/>
          </p:nvSpPr>
          <p:spPr>
            <a:xfrm>
              <a:off x="324340" y="4210063"/>
              <a:ext cx="4158343" cy="7238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altLang="zh-TW" sz="1600" dirty="0">
                  <a:solidFill>
                    <a:srgbClr val="0066CC"/>
                  </a:solidFill>
                  <a:latin typeface="Calibri"/>
                  <a:ea typeface="+mj-ea"/>
                  <a:cs typeface="+mj-cs"/>
                </a:rPr>
                <a:t>If the OMCI packets is not included, will receive an error message</a:t>
              </a:r>
              <a:endParaRPr lang="zh-TW" altLang="en-US" sz="1600" dirty="0">
                <a:solidFill>
                  <a:srgbClr val="0066CC"/>
                </a:solidFill>
                <a:latin typeface="Calibri"/>
                <a:ea typeface="+mj-ea"/>
                <a:cs typeface="+mj-cs"/>
              </a:endParaRPr>
            </a:p>
          </p:txBody>
        </p:sp>
      </p:grp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A8242403-1535-61FC-075D-89B3903BC88D}"/>
              </a:ext>
            </a:extLst>
          </p:cNvPr>
          <p:cNvGrpSpPr/>
          <p:nvPr/>
        </p:nvGrpSpPr>
        <p:grpSpPr>
          <a:xfrm>
            <a:off x="3022488" y="1538993"/>
            <a:ext cx="6177604" cy="4715274"/>
            <a:chOff x="3022488" y="1538993"/>
            <a:chExt cx="6177604" cy="4715274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4C10273-A543-1A2A-46F3-5A1215C8B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6198" y="4404086"/>
              <a:ext cx="3243894" cy="1850181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11BD26FD-52DA-C6E5-9E5A-DE2823812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2488" y="1538993"/>
              <a:ext cx="3254261" cy="911193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3BB020D9-8995-FC32-C37C-9142921D7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59584" y="1837291"/>
              <a:ext cx="3869008" cy="1767000"/>
            </a:xfrm>
            <a:prstGeom prst="rect">
              <a:avLst/>
            </a:prstGeom>
          </p:spPr>
        </p:pic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701B2357-9617-9F31-491A-5AB225D02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72989" y="2099345"/>
              <a:ext cx="2955007" cy="2030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939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F6A53-DF7D-1527-FE7E-B2C32DA0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8C932E8-A756-DD13-5EC0-68CA49A19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34B3E7-7721-ECE9-18EF-0D763DB37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06726B-578F-9855-5D4F-07A857809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D6527-8885-330E-C469-A4E806734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C67FAF-6E70-8234-D52D-19E4C2471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08363C9-D3E7-7E3B-5F15-C2FADDA01D4E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kumimoji="0" lang="en-US" altLang="zh-TW" sz="30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E6D09E9-5AA3-ADB8-E610-4162327CE4B0}"/>
              </a:ext>
            </a:extLst>
          </p:cNvPr>
          <p:cNvSpPr txBox="1"/>
          <p:nvPr/>
        </p:nvSpPr>
        <p:spPr>
          <a:xfrm>
            <a:off x="121050" y="2943614"/>
            <a:ext cx="2830577" cy="12054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Filter OMCI packets display. Please enter search keywords to search previous or next keyword,</a:t>
            </a:r>
            <a:b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</a:b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and the total number of searches. </a:t>
            </a: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028952" y="1096235"/>
            <a:ext cx="7231734" cy="4173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dirty="0">
                <a:solidFill>
                  <a:srgbClr val="0066CC"/>
                </a:solidFill>
                <a:latin typeface="Calibri"/>
              </a:rPr>
              <a:t>Step4 Filter OMCI packets display</a:t>
            </a:r>
            <a:br>
              <a:rPr lang="en-US" sz="1800" b="1" dirty="0">
                <a:solidFill>
                  <a:srgbClr val="0066CC"/>
                </a:solidFill>
                <a:latin typeface="Calibri"/>
              </a:rPr>
            </a:br>
            <a:r>
              <a:rPr lang="en-US" sz="1600" dirty="0">
                <a:solidFill>
                  <a:srgbClr val="0066CC"/>
                </a:solidFill>
                <a:latin typeface="Calibri"/>
              </a:rPr>
              <a:t>Please enter search keywords to search previous or next keyword,</a:t>
            </a:r>
            <a:br>
              <a:rPr lang="en-US" sz="1600" dirty="0">
                <a:solidFill>
                  <a:srgbClr val="0066CC"/>
                </a:solidFill>
                <a:latin typeface="Calibri"/>
              </a:rPr>
            </a:br>
            <a:r>
              <a:rPr lang="en-US" sz="1600" dirty="0">
                <a:solidFill>
                  <a:srgbClr val="0066CC"/>
                </a:solidFill>
                <a:latin typeface="Calibri"/>
              </a:rPr>
              <a:t>and the total number of searches.</a:t>
            </a:r>
            <a:endParaRPr lang="en-US" sz="1600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E23AB581-29C5-1D4A-DF9E-96E6DE88F281}"/>
              </a:ext>
            </a:extLst>
          </p:cNvPr>
          <p:cNvGrpSpPr/>
          <p:nvPr/>
        </p:nvGrpSpPr>
        <p:grpSpPr>
          <a:xfrm>
            <a:off x="3000617" y="1693397"/>
            <a:ext cx="6143383" cy="4625269"/>
            <a:chOff x="3000617" y="1693397"/>
            <a:chExt cx="6143383" cy="462526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16A8A229-E6B2-7C40-7397-3BEE975B79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00617" y="1693397"/>
              <a:ext cx="3825411" cy="3091727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2DDBE0C-997E-0F83-54C3-88333D5A58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885"/>
            <a:stretch/>
          </p:blipFill>
          <p:spPr>
            <a:xfrm>
              <a:off x="5058228" y="2658126"/>
              <a:ext cx="4085772" cy="3660540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B84F76-AF13-6890-FEDC-B2E17E418369}"/>
                </a:ext>
              </a:extLst>
            </p:cNvPr>
            <p:cNvSpPr/>
            <p:nvPr/>
          </p:nvSpPr>
          <p:spPr>
            <a:xfrm>
              <a:off x="5065367" y="2793568"/>
              <a:ext cx="1828014" cy="157297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07E00A9-189E-EF39-C75B-73B7196D27BA}"/>
                </a:ext>
              </a:extLst>
            </p:cNvPr>
            <p:cNvSpPr/>
            <p:nvPr/>
          </p:nvSpPr>
          <p:spPr>
            <a:xfrm>
              <a:off x="6978869" y="2743456"/>
              <a:ext cx="1465872" cy="257519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61959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594788" cy="9618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According to the test of each version, create a test </a:t>
            </a:r>
            <a:r>
              <a:rPr lang="en-US" altLang="zh-TW" sz="1050" dirty="0" err="1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test</a:t>
            </a: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 in TestRail and generate a csv file. </a:t>
            </a:r>
          </a:p>
          <a:p>
            <a:pPr defTabSz="685800"/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AB54DEC-532A-8C0A-41DA-BCEA1F4A9869}"/>
              </a:ext>
            </a:extLst>
          </p:cNvPr>
          <p:cNvGrpSpPr/>
          <p:nvPr/>
        </p:nvGrpSpPr>
        <p:grpSpPr>
          <a:xfrm>
            <a:off x="3039579" y="956902"/>
            <a:ext cx="6104421" cy="5156864"/>
            <a:chOff x="76966" y="73512"/>
            <a:chExt cx="8591585" cy="6614746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7B6AFB31-5EDB-F4C9-D303-DE6215E76FBB}"/>
                </a:ext>
              </a:extLst>
            </p:cNvPr>
            <p:cNvSpPr txBox="1">
              <a:spLocks/>
            </p:cNvSpPr>
            <p:nvPr/>
          </p:nvSpPr>
          <p:spPr>
            <a:xfrm>
              <a:off x="76966" y="73512"/>
              <a:ext cx="8406300" cy="114299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Step5 Open GPON test cases in </a:t>
              </a:r>
              <a:r>
                <a:rPr lang="en-US" sz="1800" b="1" dirty="0" err="1">
                  <a:solidFill>
                    <a:srgbClr val="0066CC"/>
                  </a:solidFill>
                  <a:latin typeface="Calibri"/>
                </a:rPr>
                <a:t>Testrail</a:t>
              </a:r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 </a:t>
              </a:r>
              <a:br>
                <a:rPr lang="en-US" sz="1800" b="1" dirty="0">
                  <a:solidFill>
                    <a:srgbClr val="0066CC"/>
                  </a:solidFill>
                  <a:latin typeface="Calibri"/>
                </a:rPr>
              </a:br>
              <a:r>
                <a:rPr lang="en-US" sz="1600" dirty="0">
                  <a:solidFill>
                    <a:srgbClr val="0066CC"/>
                  </a:solidFill>
                  <a:latin typeface="Calibri"/>
                </a:rPr>
                <a:t>Download PON function test cases in </a:t>
              </a:r>
              <a:r>
                <a:rPr lang="en-US" sz="1600" dirty="0" err="1">
                  <a:solidFill>
                    <a:srgbClr val="0066CC"/>
                  </a:solidFill>
                  <a:latin typeface="Calibri"/>
                </a:rPr>
                <a:t>Testrail</a:t>
              </a:r>
              <a:r>
                <a:rPr lang="en-US" sz="1600" dirty="0">
                  <a:solidFill>
                    <a:srgbClr val="0066CC"/>
                  </a:solidFill>
                  <a:latin typeface="Calibri"/>
                </a:rPr>
                <a:t>:</a:t>
              </a:r>
              <a:br>
                <a:rPr lang="en-US" sz="1600" dirty="0">
                  <a:solidFill>
                    <a:srgbClr val="0066CC"/>
                  </a:solidFill>
                  <a:latin typeface="Calibri"/>
                </a:rPr>
              </a:br>
              <a:r>
                <a:rPr lang="en-US" sz="1600" dirty="0">
                  <a:solidFill>
                    <a:srgbClr val="0066CC"/>
                  </a:solidFill>
                  <a:latin typeface="Calibri"/>
                </a:rPr>
                <a:t>http://172.30.0.199/testrail/index.php?/runs/view/4184</a:t>
              </a:r>
              <a:endParaRPr lang="en-US" sz="1600" b="1" dirty="0">
                <a:solidFill>
                  <a:srgbClr val="0066CC"/>
                </a:solidFill>
                <a:latin typeface="Calibri"/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8C5407A-62AE-AF19-D464-68F1AE455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324"/>
            <a:stretch/>
          </p:blipFill>
          <p:spPr>
            <a:xfrm>
              <a:off x="352712" y="3855592"/>
              <a:ext cx="5265858" cy="2151918"/>
            </a:xfrm>
            <a:prstGeom prst="rect">
              <a:avLst/>
            </a:prstGeom>
          </p:spPr>
        </p:pic>
        <p:pic>
          <p:nvPicPr>
            <p:cNvPr id="11" name="Picture 2" descr="6.png">
              <a:extLst>
                <a:ext uri="{FF2B5EF4-FFF2-40B4-BE49-F238E27FC236}">
                  <a16:creationId xmlns:a16="http://schemas.microsoft.com/office/drawing/2014/main" id="{8D81F353-6B4C-BC31-260A-FE9A2C749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6605"/>
            <a:stretch/>
          </p:blipFill>
          <p:spPr>
            <a:xfrm>
              <a:off x="5487943" y="4166060"/>
              <a:ext cx="3180608" cy="2522198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80BEDFF4-9D70-7F8B-57D1-A67618F8A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27415" y="1368887"/>
              <a:ext cx="4945149" cy="2068090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3D8EDFC2-1DD3-EBFF-F593-345DD8650D72}"/>
                </a:ext>
              </a:extLst>
            </p:cNvPr>
            <p:cNvSpPr/>
            <p:nvPr/>
          </p:nvSpPr>
          <p:spPr>
            <a:xfrm>
              <a:off x="707571" y="3987691"/>
              <a:ext cx="1436915" cy="30128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30501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780942" cy="79720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After import the csv file, start the auto test. Select a Test Case and press Test button</a:t>
            </a:r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46C3DAC4-9BD6-C69C-654F-9A7F21A13FEC}"/>
              </a:ext>
            </a:extLst>
          </p:cNvPr>
          <p:cNvGrpSpPr/>
          <p:nvPr/>
        </p:nvGrpSpPr>
        <p:grpSpPr>
          <a:xfrm>
            <a:off x="3109924" y="1914116"/>
            <a:ext cx="6376977" cy="3653406"/>
            <a:chOff x="1500365" y="1756408"/>
            <a:chExt cx="7986536" cy="4623074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92216B90-3D58-F27A-0EB3-1A7DA5804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0365" y="1756408"/>
              <a:ext cx="4881452" cy="3527612"/>
            </a:xfrm>
            <a:prstGeom prst="rect">
              <a:avLst/>
            </a:prstGeom>
          </p:spPr>
        </p:pic>
        <p:pic>
          <p:nvPicPr>
            <p:cNvPr id="6" name="Picture 2" descr="8.png">
              <a:extLst>
                <a:ext uri="{FF2B5EF4-FFF2-40B4-BE49-F238E27FC236}">
                  <a16:creationId xmlns:a16="http://schemas.microsoft.com/office/drawing/2014/main" id="{2DDC340E-BF7A-8514-AED1-223C7D82C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131" t="9705" r="131" b="-3047"/>
            <a:stretch/>
          </p:blipFill>
          <p:spPr>
            <a:xfrm>
              <a:off x="4975563" y="3059149"/>
              <a:ext cx="4511338" cy="3320333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E7894F-1CFE-C019-C029-71A74FDA81D5}"/>
                </a:ext>
              </a:extLst>
            </p:cNvPr>
            <p:cNvSpPr/>
            <p:nvPr/>
          </p:nvSpPr>
          <p:spPr>
            <a:xfrm>
              <a:off x="5440992" y="4172178"/>
              <a:ext cx="3298372" cy="21595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B2A7C86-725C-3412-5A33-F4994237750D}"/>
                </a:ext>
              </a:extLst>
            </p:cNvPr>
            <p:cNvSpPr/>
            <p:nvPr/>
          </p:nvSpPr>
          <p:spPr>
            <a:xfrm>
              <a:off x="6954107" y="4465213"/>
              <a:ext cx="283029" cy="215954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0C29B1B1-636C-09F2-91BF-B17BF053BD2E}"/>
              </a:ext>
            </a:extLst>
          </p:cNvPr>
          <p:cNvSpPr txBox="1">
            <a:spLocks/>
          </p:cNvSpPr>
          <p:nvPr/>
        </p:nvSpPr>
        <p:spPr>
          <a:xfrm>
            <a:off x="3030556" y="905245"/>
            <a:ext cx="4965128" cy="7768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dirty="0">
                <a:solidFill>
                  <a:srgbClr val="0066CC"/>
                </a:solidFill>
                <a:latin typeface="Calibri"/>
              </a:rPr>
              <a:t>Step6 Start Auto Test</a:t>
            </a:r>
            <a:br>
              <a:rPr lang="en-US" sz="1800" b="1" dirty="0">
                <a:solidFill>
                  <a:srgbClr val="0066CC"/>
                </a:solidFill>
                <a:latin typeface="Calibri"/>
              </a:rPr>
            </a:br>
            <a:r>
              <a:rPr lang="en-US" sz="1800" dirty="0">
                <a:solidFill>
                  <a:srgbClr val="0066CC"/>
                </a:solidFill>
                <a:latin typeface="Calibri"/>
              </a:rPr>
              <a:t>Select a Test Case and press Test button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9158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594788" cy="120545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en-US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Follow test case steps and press Validate button. Show test result: PASS (Found ME Attributes)</a:t>
            </a:r>
          </a:p>
          <a:p>
            <a:pPr defTabSz="685800">
              <a:lnSpc>
                <a:spcPts val="1944"/>
              </a:lnSpc>
            </a:pPr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  <a:p>
            <a:pPr defTabSz="685800"/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0B6B25B7-EB2A-27A2-FC33-A29CF9A48A96}"/>
              </a:ext>
            </a:extLst>
          </p:cNvPr>
          <p:cNvGrpSpPr/>
          <p:nvPr/>
        </p:nvGrpSpPr>
        <p:grpSpPr>
          <a:xfrm>
            <a:off x="3069017" y="928873"/>
            <a:ext cx="5893684" cy="5050750"/>
            <a:chOff x="457199" y="274638"/>
            <a:chExt cx="8419171" cy="6360363"/>
          </a:xfrm>
        </p:grpSpPr>
        <p:sp>
          <p:nvSpPr>
            <p:cNvPr id="19" name="Title 1"/>
            <p:cNvSpPr txBox="1">
              <a:spLocks/>
            </p:cNvSpPr>
            <p:nvPr/>
          </p:nvSpPr>
          <p:spPr>
            <a:xfrm>
              <a:off x="457199" y="274638"/>
              <a:ext cx="8419171" cy="422048"/>
            </a:xfrm>
            <a:prstGeom prst="rect">
              <a:avLst/>
            </a:prstGeom>
          </p:spPr>
          <p:txBody>
            <a:bodyPr>
              <a:normAutofit lnSpcReduction="10000"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Step7 </a:t>
              </a:r>
              <a: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  <a:t>Follow test case steps and press Validate button</a:t>
              </a:r>
              <a:endParaRPr lang="en-US" sz="1800" b="1" dirty="0">
                <a:solidFill>
                  <a:srgbClr val="0066CC"/>
                </a:solidFill>
                <a:latin typeface="Calibri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32169B77-D638-99A2-874C-9655202E958A}"/>
                </a:ext>
              </a:extLst>
            </p:cNvPr>
            <p:cNvGrpSpPr/>
            <p:nvPr/>
          </p:nvGrpSpPr>
          <p:grpSpPr>
            <a:xfrm>
              <a:off x="624286" y="1018205"/>
              <a:ext cx="8096643" cy="5616796"/>
              <a:chOff x="624286" y="1018205"/>
              <a:chExt cx="8096643" cy="5616796"/>
            </a:xfrm>
          </p:grpSpPr>
          <p:pic>
            <p:nvPicPr>
              <p:cNvPr id="22" name="Picture 2" descr="9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286" y="1018205"/>
                <a:ext cx="4175972" cy="3270765"/>
              </a:xfrm>
              <a:prstGeom prst="rect">
                <a:avLst/>
              </a:prstGeom>
            </p:spPr>
          </p:pic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B860CB4B-B7C3-25C1-BD2F-A0E5E94C94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276900" y="2171953"/>
                <a:ext cx="3252724" cy="66153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0000" lnSpcReduction="20000"/>
              </a:bodyPr>
              <a:lstStyle>
                <a:lvl1pPr algn="ctr" defTabSz="457200" rtl="0" eaLnBrk="1" latinLnBrk="0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zh-TW" sz="1800" dirty="0">
                    <a:solidFill>
                      <a:srgbClr val="0066CC"/>
                    </a:solidFill>
                    <a:latin typeface="Calibri"/>
                  </a:rPr>
                  <a:t>Show test result: </a:t>
                </a:r>
                <a:r>
                  <a:rPr lang="en-US" altLang="zh-TW" sz="1800" dirty="0">
                    <a:solidFill>
                      <a:srgbClr val="00B050"/>
                    </a:solidFill>
                    <a:latin typeface="Calibri"/>
                  </a:rPr>
                  <a:t>PASS </a:t>
                </a:r>
                <a:br>
                  <a:rPr lang="en-US" altLang="zh-TW" sz="1800" dirty="0">
                    <a:solidFill>
                      <a:srgbClr val="00B050"/>
                    </a:solidFill>
                  </a:rPr>
                </a:br>
                <a:r>
                  <a:rPr lang="en-US" altLang="zh-TW" sz="1800" dirty="0">
                    <a:solidFill>
                      <a:srgbClr val="0066CC"/>
                    </a:solidFill>
                    <a:latin typeface="Calibri"/>
                  </a:rPr>
                  <a:t>(Found ME Attributes)</a:t>
                </a:r>
                <a:endParaRPr lang="en-US" sz="1800" dirty="0">
                  <a:solidFill>
                    <a:srgbClr val="0066CC"/>
                  </a:solidFill>
                  <a:latin typeface="Calibri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D083D7BE-B32D-AA3C-D27B-B14D251821DB}"/>
                  </a:ext>
                </a:extLst>
              </p:cNvPr>
              <p:cNvSpPr/>
              <p:nvPr/>
            </p:nvSpPr>
            <p:spPr>
              <a:xfrm>
                <a:off x="2264229" y="3850847"/>
                <a:ext cx="718457" cy="215954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grpSp>
            <p:nvGrpSpPr>
              <p:cNvPr id="25" name="群組 24">
                <a:extLst>
                  <a:ext uri="{FF2B5EF4-FFF2-40B4-BE49-F238E27FC236}">
                    <a16:creationId xmlns:a16="http://schemas.microsoft.com/office/drawing/2014/main" id="{782082BB-B0C4-F5EB-AEF3-9BA7A8D8735D}"/>
                  </a:ext>
                </a:extLst>
              </p:cNvPr>
              <p:cNvGrpSpPr/>
              <p:nvPr/>
            </p:nvGrpSpPr>
            <p:grpSpPr>
              <a:xfrm>
                <a:off x="4159472" y="2852889"/>
                <a:ext cx="4561457" cy="3782112"/>
                <a:chOff x="3613714" y="2984353"/>
                <a:chExt cx="4561457" cy="3782112"/>
              </a:xfrm>
            </p:grpSpPr>
            <p:pic>
              <p:nvPicPr>
                <p:cNvPr id="26" name="圖片 25">
                  <a:extLst>
                    <a:ext uri="{FF2B5EF4-FFF2-40B4-BE49-F238E27FC236}">
                      <a16:creationId xmlns:a16="http://schemas.microsoft.com/office/drawing/2014/main" id="{11786BD6-4552-FF3C-98EA-9CD347CA7EE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13714" y="2984353"/>
                  <a:ext cx="4561457" cy="3782112"/>
                </a:xfrm>
                <a:prstGeom prst="rect">
                  <a:avLst/>
                </a:prstGeom>
              </p:spPr>
            </p:pic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3F7D40E-0FB5-BFB0-74CF-0CC3696F260D}"/>
                    </a:ext>
                  </a:extLst>
                </p:cNvPr>
                <p:cNvSpPr/>
                <p:nvPr/>
              </p:nvSpPr>
              <p:spPr>
                <a:xfrm>
                  <a:off x="5203371" y="4459621"/>
                  <a:ext cx="1360715" cy="227951"/>
                </a:xfrm>
                <a:prstGeom prst="rect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6B7E95EA-70A3-45C1-69B2-EF69C51748C6}"/>
                    </a:ext>
                  </a:extLst>
                </p:cNvPr>
                <p:cNvSpPr/>
                <p:nvPr/>
              </p:nvSpPr>
              <p:spPr>
                <a:xfrm>
                  <a:off x="3613714" y="4950500"/>
                  <a:ext cx="2101286" cy="1101958"/>
                </a:xfrm>
                <a:prstGeom prst="rect">
                  <a:avLst/>
                </a:prstGeom>
                <a:noFill/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85351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2FBCF-4C13-6E7A-8F7C-30C19086D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4D32EDD-D566-FB9E-BF8C-63E462AA5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DACD01-27C3-133D-7688-2FD33737B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C1E753-769A-6DDE-B9DD-A4B8B0DB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7B23F3-557C-C7D6-1909-B905B3E34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87E334B-54B3-E1E0-5B87-72CB0C17E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DAB7827-F960-010F-C01B-8B1DCF6AF17C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kumimoji="0" lang="en-US" altLang="zh-TW" sz="30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F7C14147-A160-AE9C-3841-AEFC4AFEF5BB}"/>
              </a:ext>
            </a:extLst>
          </p:cNvPr>
          <p:cNvSpPr txBox="1"/>
          <p:nvPr/>
        </p:nvSpPr>
        <p:spPr>
          <a:xfrm>
            <a:off x="121051" y="2943614"/>
            <a:ext cx="2594788" cy="8566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Show test result: FAIL </a:t>
            </a:r>
            <a:b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</a:b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(Not Found ME Attributes)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C052F62-DBCE-5F6A-0057-511A09911378}"/>
              </a:ext>
            </a:extLst>
          </p:cNvPr>
          <p:cNvGrpSpPr/>
          <p:nvPr/>
        </p:nvGrpSpPr>
        <p:grpSpPr>
          <a:xfrm>
            <a:off x="3041461" y="1358066"/>
            <a:ext cx="6211080" cy="4141868"/>
            <a:chOff x="604379" y="1096210"/>
            <a:chExt cx="7935241" cy="5274088"/>
          </a:xfrm>
        </p:grpSpPr>
        <p:sp>
          <p:nvSpPr>
            <p:cNvPr id="2" name="Title 1"/>
            <p:cNvSpPr txBox="1">
              <a:spLocks/>
            </p:cNvSpPr>
            <p:nvPr/>
          </p:nvSpPr>
          <p:spPr>
            <a:xfrm>
              <a:off x="5047906" y="1819224"/>
              <a:ext cx="3110286" cy="661533"/>
            </a:xfrm>
            <a:prstGeom prst="rect">
              <a:avLst/>
            </a:prstGeom>
          </p:spPr>
          <p:txBody>
            <a:bodyPr>
              <a:normAutofit fontScale="90000" lnSpcReduction="10000"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TW" sz="1800" dirty="0">
                  <a:solidFill>
                    <a:srgbClr val="0066CC"/>
                  </a:solidFill>
                  <a:latin typeface="Calibri"/>
                </a:rPr>
                <a:t>Show test result: </a:t>
              </a:r>
              <a:r>
                <a:rPr lang="en-US" altLang="zh-TW" sz="1800" dirty="0">
                  <a:solidFill>
                    <a:srgbClr val="FF0000"/>
                  </a:solidFill>
                  <a:latin typeface="Calibri"/>
                </a:rPr>
                <a:t>FAIL</a:t>
              </a:r>
              <a:r>
                <a:rPr lang="en-US" altLang="zh-TW" sz="1800" dirty="0">
                  <a:solidFill>
                    <a:srgbClr val="000000"/>
                  </a:solidFill>
                  <a:latin typeface="Calibri"/>
                </a:rPr>
                <a:t> </a:t>
              </a:r>
              <a:br>
                <a:rPr lang="en-US" altLang="zh-TW" sz="1800" dirty="0">
                  <a:solidFill>
                    <a:srgbClr val="000000"/>
                  </a:solidFill>
                  <a:latin typeface="Calibri"/>
                </a:rPr>
              </a:br>
              <a:r>
                <a:rPr lang="en-US" altLang="zh-TW" sz="1800" dirty="0">
                  <a:solidFill>
                    <a:srgbClr val="0066CC"/>
                  </a:solidFill>
                  <a:latin typeface="Calibri"/>
                </a:rPr>
                <a:t>(Not Found ME Attributes)</a:t>
              </a:r>
              <a:endParaRPr lang="en-US" sz="1800" dirty="0">
                <a:solidFill>
                  <a:srgbClr val="0066CC"/>
                </a:solidFill>
                <a:latin typeface="Calibri"/>
              </a:endParaRPr>
            </a:p>
          </p:txBody>
        </p:sp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F85D9C3D-6F64-28F5-65AB-264D73A8F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823"/>
            <a:stretch/>
          </p:blipFill>
          <p:spPr>
            <a:xfrm>
              <a:off x="604379" y="1096210"/>
              <a:ext cx="4450215" cy="3562877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D02018B1-0152-89D6-1C8B-4FA640B1F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5692" y="2543596"/>
              <a:ext cx="4863928" cy="382670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C53CB1FE-4531-D314-7AEF-A31994E3CE19}"/>
                </a:ext>
              </a:extLst>
            </p:cNvPr>
            <p:cNvSpPr/>
            <p:nvPr/>
          </p:nvSpPr>
          <p:spPr>
            <a:xfrm>
              <a:off x="5436392" y="4169723"/>
              <a:ext cx="1360715" cy="227951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F4E04FC-2268-55AD-6858-BCE9ED87D676}"/>
                </a:ext>
              </a:extLst>
            </p:cNvPr>
            <p:cNvSpPr/>
            <p:nvPr/>
          </p:nvSpPr>
          <p:spPr>
            <a:xfrm>
              <a:off x="6063594" y="4675359"/>
              <a:ext cx="2101286" cy="1101958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36074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1C7D0-93B9-160F-D030-57A25994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8DE9400-6013-A219-3D63-F2DF0D39C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06A066-08E8-D88D-C0CA-CD97F53EB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3BD60-7258-0B2F-9282-EBC9ECF89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61B47-260E-413E-F84F-625D2C2F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51C3011-8DED-4D7B-03DD-A4A7A6519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FDD212C-42F4-05F6-BC89-40C32E0AA6DF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kumimoji="0" lang="zh-TW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kumimoji="0" lang="en-US" altLang="zh-TW" sz="3000" b="1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12C3693C-A8EA-7163-C689-E3E22AC2E4A6}"/>
              </a:ext>
            </a:extLst>
          </p:cNvPr>
          <p:cNvSpPr txBox="1"/>
          <p:nvPr/>
        </p:nvSpPr>
        <p:spPr>
          <a:xfrm>
            <a:off x="121051" y="2943614"/>
            <a:ext cx="2594788" cy="96180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Generate OMCI analysis table and save the new file in the root directory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5F60DB2-2DBB-3EF2-047A-994D00B6B8F1}"/>
              </a:ext>
            </a:extLst>
          </p:cNvPr>
          <p:cNvGrpSpPr/>
          <p:nvPr/>
        </p:nvGrpSpPr>
        <p:grpSpPr>
          <a:xfrm>
            <a:off x="3015221" y="926855"/>
            <a:ext cx="6699800" cy="5343000"/>
            <a:chOff x="416088" y="395654"/>
            <a:chExt cx="8338458" cy="6332345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6AF11D1B-64BD-774B-0BAC-FEEDDC7717BC}"/>
                </a:ext>
              </a:extLst>
            </p:cNvPr>
            <p:cNvSpPr txBox="1">
              <a:spLocks/>
            </p:cNvSpPr>
            <p:nvPr/>
          </p:nvSpPr>
          <p:spPr>
            <a:xfrm>
              <a:off x="418377" y="395654"/>
              <a:ext cx="8323563" cy="514336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Step8 </a:t>
              </a:r>
              <a: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  <a:t>Generate OMCI analysis table and save the new file </a:t>
              </a:r>
            </a:p>
            <a:p>
              <a:r>
                <a:rPr lang="en-US" altLang="zh-TW" sz="1800" b="1" dirty="0">
                  <a:solidFill>
                    <a:srgbClr val="0066CC"/>
                  </a:solidFill>
                  <a:latin typeface="Calibri"/>
                </a:rPr>
                <a:t>in the root directory</a:t>
              </a:r>
              <a:endParaRPr lang="en-US" sz="1800" b="1" dirty="0">
                <a:solidFill>
                  <a:srgbClr val="0066CC"/>
                </a:solidFill>
                <a:latin typeface="Calibri"/>
              </a:endParaRPr>
            </a:p>
          </p:txBody>
        </p:sp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8967DDB2-D3D3-48AC-5526-AF5C0D5FC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7948"/>
            <a:stretch/>
          </p:blipFill>
          <p:spPr>
            <a:xfrm>
              <a:off x="457199" y="1228686"/>
              <a:ext cx="6921856" cy="1380807"/>
            </a:xfrm>
            <a:prstGeom prst="rect">
              <a:avLst/>
            </a:prstGeom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449C7D7-EF9C-334A-DE2E-2CE6CFCB97C9}"/>
                </a:ext>
              </a:extLst>
            </p:cNvPr>
            <p:cNvSpPr/>
            <p:nvPr/>
          </p:nvSpPr>
          <p:spPr>
            <a:xfrm>
              <a:off x="436175" y="1552605"/>
              <a:ext cx="2045768" cy="189109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239627F5-D13C-FAE6-A801-65D460704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337"/>
            <a:stretch/>
          </p:blipFill>
          <p:spPr>
            <a:xfrm>
              <a:off x="4150307" y="1015378"/>
              <a:ext cx="2967491" cy="1862479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BDDCBB81-EF02-D968-0982-71B5CE9E9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6773"/>
            <a:stretch/>
          </p:blipFill>
          <p:spPr>
            <a:xfrm>
              <a:off x="457199" y="4026034"/>
              <a:ext cx="6972657" cy="1199729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D0F1AB53-56EF-6DE3-BADF-DCBEBB018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762"/>
            <a:stretch/>
          </p:blipFill>
          <p:spPr>
            <a:xfrm>
              <a:off x="3592995" y="3636970"/>
              <a:ext cx="4841732" cy="3091029"/>
            </a:xfrm>
            <a:prstGeom prst="rect">
              <a:avLst/>
            </a:prstGeom>
          </p:spPr>
        </p:pic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55FE7451-2106-BFBA-262A-CD4DEA64936F}"/>
                </a:ext>
              </a:extLst>
            </p:cNvPr>
            <p:cNvSpPr txBox="1"/>
            <p:nvPr/>
          </p:nvSpPr>
          <p:spPr>
            <a:xfrm>
              <a:off x="416088" y="2989956"/>
              <a:ext cx="8338458" cy="6930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zh-TW" altLang="en-US" sz="1600" dirty="0">
                  <a:solidFill>
                    <a:srgbClr val="0066CC"/>
                  </a:solidFill>
                  <a:latin typeface="Calibri"/>
                  <a:ea typeface="+mj-ea"/>
                  <a:cs typeface="+mj-cs"/>
                </a:rPr>
                <a:t>Before generating the OMCI analysis table, need to import the OMCI Wireshark packets.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3597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63155" y="1920404"/>
            <a:ext cx="5156864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8872" y="2852605"/>
            <a:ext cx="3266696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885662" y="2085814"/>
            <a:ext cx="5143179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560517" y="1758234"/>
            <a:ext cx="3606227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US" sz="1350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6D28F88-A663-BC89-C90A-9B4A896B7200}"/>
              </a:ext>
            </a:extLst>
          </p:cNvPr>
          <p:cNvSpPr txBox="1"/>
          <p:nvPr/>
        </p:nvSpPr>
        <p:spPr>
          <a:xfrm>
            <a:off x="217083" y="947380"/>
            <a:ext cx="2594787" cy="230393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pPr defTabSz="685800"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altLang="zh-TW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PON OMCI</a:t>
            </a:r>
            <a:r>
              <a:rPr lang="zh-TW" altLang="en-US" sz="3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封包分析測試</a:t>
            </a:r>
            <a:endParaRPr lang="en-US" altLang="zh-TW" sz="3000" b="1" u="sng" dirty="0">
              <a:solidFill>
                <a:prstClr val="white"/>
              </a:solidFill>
              <a:latin typeface="Calibri Light"/>
              <a:ea typeface="新細明體" panose="02020500000000000000" pitchFamily="18" charset="-120"/>
            </a:endParaRPr>
          </a:p>
        </p:txBody>
      </p:sp>
      <p:sp>
        <p:nvSpPr>
          <p:cNvPr id="7" name="TextBox 60">
            <a:extLst>
              <a:ext uri="{FF2B5EF4-FFF2-40B4-BE49-F238E27FC236}">
                <a16:creationId xmlns:a16="http://schemas.microsoft.com/office/drawing/2014/main" id="{5BC320E2-5EB2-3AF3-AF93-899FD2ADD0B9}"/>
              </a:ext>
            </a:extLst>
          </p:cNvPr>
          <p:cNvSpPr txBox="1"/>
          <p:nvPr/>
        </p:nvSpPr>
        <p:spPr>
          <a:xfrm>
            <a:off x="121051" y="2943614"/>
            <a:ext cx="2594788" cy="30989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defTabSz="685800">
              <a:lnSpc>
                <a:spcPts val="1944"/>
              </a:lnSpc>
            </a:pPr>
            <a:r>
              <a:rPr lang="fr-FR" altLang="zh-TW" sz="1050" dirty="0" err="1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Optimize</a:t>
            </a:r>
            <a:r>
              <a:rPr lang="fr-FR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 </a:t>
            </a:r>
            <a:r>
              <a:rPr lang="fr-FR" altLang="zh-TW" sz="1050" dirty="0" err="1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OMCI_Analysis_Table</a:t>
            </a:r>
            <a:r>
              <a:rPr lang="fr-FR" altLang="zh-TW" sz="1050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Instrument Sans" pitchFamily="34" charset="-120"/>
              </a:rPr>
              <a:t> content</a:t>
            </a:r>
            <a:endParaRPr lang="en-US" altLang="zh-TW" sz="900" dirty="0">
              <a:solidFill>
                <a:prstClr val="white"/>
              </a:solidFill>
              <a:latin typeface="Calibri"/>
              <a:ea typeface="新細明體" panose="02020500000000000000" pitchFamily="18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83CE732-ADFD-5C71-175B-D25D2F37A97C}"/>
              </a:ext>
            </a:extLst>
          </p:cNvPr>
          <p:cNvGrpSpPr/>
          <p:nvPr/>
        </p:nvGrpSpPr>
        <p:grpSpPr>
          <a:xfrm>
            <a:off x="3030556" y="707892"/>
            <a:ext cx="6330528" cy="3592863"/>
            <a:chOff x="199154" y="430558"/>
            <a:chExt cx="8581084" cy="4239041"/>
          </a:xfrm>
        </p:grpSpPr>
        <p:sp>
          <p:nvSpPr>
            <p:cNvPr id="2" name="Title 1">
              <a:extLst>
                <a:ext uri="{FF2B5EF4-FFF2-40B4-BE49-F238E27FC236}">
                  <a16:creationId xmlns:a16="http://schemas.microsoft.com/office/drawing/2014/main" id="{0BDDA41C-99D8-A420-1E7B-8BBD57466635}"/>
                </a:ext>
              </a:extLst>
            </p:cNvPr>
            <p:cNvSpPr txBox="1">
              <a:spLocks/>
            </p:cNvSpPr>
            <p:nvPr/>
          </p:nvSpPr>
          <p:spPr>
            <a:xfrm>
              <a:off x="199154" y="430558"/>
              <a:ext cx="8581084" cy="535607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3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en-US" sz="1800" b="1" dirty="0">
                <a:solidFill>
                  <a:srgbClr val="0066CC"/>
                </a:solidFill>
                <a:latin typeface="Calibri"/>
              </a:endParaRPr>
            </a:p>
            <a:p>
              <a:r>
                <a:rPr lang="en-US" sz="1800" b="1" dirty="0">
                  <a:solidFill>
                    <a:srgbClr val="0066CC"/>
                  </a:solidFill>
                  <a:latin typeface="Calibri"/>
                </a:rPr>
                <a:t>Step9 Optimize OMCI Analysis Table</a:t>
              </a:r>
              <a:endParaRPr lang="en-US" altLang="zh-TW" sz="1800" b="1" dirty="0">
                <a:solidFill>
                  <a:srgbClr val="0066CC"/>
                </a:solidFill>
                <a:latin typeface="Calibri"/>
              </a:endParaRPr>
            </a:p>
            <a:p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1.Enabled filter in first row</a:t>
              </a:r>
            </a:p>
            <a:p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2.Set default view to 80%</a:t>
              </a:r>
            </a:p>
            <a:p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3.Analysis packets:</a:t>
              </a:r>
              <a:r>
                <a:rPr lang="zh-TW" altLang="en-US" sz="1600" dirty="0">
                  <a:solidFill>
                    <a:srgbClr val="0066CC"/>
                  </a:solidFill>
                  <a:latin typeface="Calibri"/>
                </a:rPr>
                <a:t> </a:t>
              </a:r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Message Type, Managed Entity Class, ME Class Instance, ME Class Upload Content, Attribute Mask, Attribute List, </a:t>
              </a:r>
            </a:p>
            <a:p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Device Identifier</a:t>
              </a:r>
              <a:br>
                <a:rPr lang="en-US" altLang="zh-TW" sz="1600" dirty="0">
                  <a:solidFill>
                    <a:srgbClr val="0066CC"/>
                  </a:solidFill>
                  <a:latin typeface="Calibri"/>
                </a:rPr>
              </a:br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4.Mark the important</a:t>
              </a:r>
              <a:r>
                <a:rPr lang="zh-TW" altLang="en-US" sz="1600" dirty="0">
                  <a:solidFill>
                    <a:srgbClr val="0066CC"/>
                  </a:solidFill>
                  <a:latin typeface="Calibri"/>
                </a:rPr>
                <a:t> </a:t>
              </a:r>
              <a:r>
                <a:rPr lang="en-US" altLang="zh-TW" sz="1600" dirty="0">
                  <a:solidFill>
                    <a:srgbClr val="0066CC"/>
                  </a:solidFill>
                  <a:latin typeface="Calibri"/>
                </a:rPr>
                <a:t>ME</a:t>
              </a:r>
              <a:endParaRPr lang="en-US" sz="1600" dirty="0">
                <a:solidFill>
                  <a:srgbClr val="0066CC"/>
                </a:solidFill>
                <a:latin typeface="Calibri"/>
              </a:endParaRP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5F41D79-3512-E361-461E-FD19276DE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974" t="30383" b="9304"/>
            <a:stretch/>
          </p:blipFill>
          <p:spPr>
            <a:xfrm>
              <a:off x="279963" y="2949564"/>
              <a:ext cx="5324935" cy="1720035"/>
            </a:xfrm>
            <a:prstGeom prst="rect">
              <a:avLst/>
            </a:prstGeom>
          </p:spPr>
        </p:pic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A4687D13-252E-5CD9-3782-588AE2200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064" y="3578610"/>
            <a:ext cx="5676115" cy="300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20983"/>
      </p:ext>
    </p:extLst>
  </p:cSld>
  <p:clrMapOvr>
    <a:masterClrMapping/>
  </p:clrMapOvr>
</p:sld>
</file>

<file path=ppt/theme/theme1.xml><?xml version="1.0" encoding="utf-8"?>
<a:theme xmlns:a="http://schemas.openxmlformats.org/drawingml/2006/main" name="Fii-Foxcon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479</Words>
  <Application>Microsoft Office PowerPoint</Application>
  <PresentationFormat>如螢幕大小 (4:3)</PresentationFormat>
  <Paragraphs>42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微軟正黑體</vt:lpstr>
      <vt:lpstr>標楷體</vt:lpstr>
      <vt:lpstr>Arial</vt:lpstr>
      <vt:lpstr>Calibri</vt:lpstr>
      <vt:lpstr>Calibri Light</vt:lpstr>
      <vt:lpstr>Helvetica</vt:lpstr>
      <vt:lpstr>Fii-Foxconn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伍思霖</dc:creator>
  <cp:keywords/>
  <dc:description>generated using python-pptx</dc:description>
  <cp:lastModifiedBy>思霖 伍</cp:lastModifiedBy>
  <cp:revision>23</cp:revision>
  <dcterms:created xsi:type="dcterms:W3CDTF">2013-01-27T09:14:16Z</dcterms:created>
  <dcterms:modified xsi:type="dcterms:W3CDTF">2024-12-31T09:40:31Z</dcterms:modified>
  <cp:category/>
</cp:coreProperties>
</file>